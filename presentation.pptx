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14B8A6"/>
            </a:solidFill>
            <a:ln w="3175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</c:v>
                </c:pt>
                <c:pt idx="1">
                  <c:v>26</c:v>
                </c:pt>
                <c:pt idx="2">
                  <c:v>22</c:v>
                </c:pt>
                <c:pt idx="3">
                  <c:v>29</c:v>
                </c:pt>
                <c:pt idx="4">
                  <c:v>34</c:v>
                </c:pt>
                <c:pt idx="5">
                  <c:v>41</c:v>
                </c:pt>
                <c:pt idx="6">
                  <c:v>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image" Target="../media/image-3-2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03120"/>
            <a:ext cx="5943600" cy="5943600"/>
          </a:xfrm>
          <a:prstGeom prst="ellipse">
            <a:avLst/>
          </a:prstGeom>
          <a:solidFill>
            <a:srgbClr val="0A1330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42352"/>
          </a:solidFill>
          <a:ln/>
        </p:spPr>
      </p:sp>
      <p:sp>
        <p:nvSpPr>
          <p:cNvPr id="4" name="Shape 2"/>
          <p:cNvSpPr/>
          <p:nvPr/>
        </p:nvSpPr>
        <p:spPr>
          <a:xfrm>
            <a:off x="4267505" y="1051560"/>
            <a:ext cx="36576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ptx_projec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545" y="1348740"/>
            <a:ext cx="3017520" cy="16026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4305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demand. Prevent stockouts. Protect cash.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24305" y="3794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INVENTORY &amp; DEMAND FORECASTING PLATFORM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209648" y="452628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16224A"/>
          </a:solidFill>
          <a:ln w="12700">
            <a:solidFill>
              <a:srgbClr val="2A3B6E"/>
            </a:solidFill>
            <a:prstDash val="solid"/>
          </a:ln>
        </p:spPr>
      </p:sp>
      <p:pic>
        <p:nvPicPr>
          <p:cNvPr id="9" name="Image 1" descr="/home/claude/pptx_project/icons/foreca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240" y="469087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66848" y="45262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907128" y="452628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16224A"/>
          </a:solidFill>
          <a:ln w="12700">
            <a:solidFill>
              <a:srgbClr val="2A3B6E"/>
            </a:solidFill>
            <a:prstDash val="solid"/>
          </a:ln>
        </p:spPr>
      </p:sp>
      <p:pic>
        <p:nvPicPr>
          <p:cNvPr id="12" name="Image 2" descr="/home/claude/pptx_project/icons/alert-critic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720" y="469087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64328" y="45262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604608" y="452628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16224A"/>
          </a:solidFill>
          <a:ln w="12700">
            <a:solidFill>
              <a:srgbClr val="2A3B6E"/>
            </a:solidFill>
            <a:prstDash val="solid"/>
          </a:ln>
        </p:spPr>
      </p:sp>
      <p:pic>
        <p:nvPicPr>
          <p:cNvPr id="15" name="Image 3" descr="/home/claude/pptx_project/icons/recomm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200" y="4690872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61808" y="45262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Reorder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524305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RICR Bhopal Hackathon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Inventory Is Still Mostly Guesswork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small and mid-size retailers run inventory on spreadsheets and gut feel — and it shows up directly on the bottom 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68880"/>
            <a:ext cx="640080" cy="640080"/>
          </a:xfrm>
          <a:prstGeom prst="ellipse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7" name="Image 0" descr="/home/claude/pptx_project/icons/alert-cri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255209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441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Stockouts Kill Sales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28620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stocked-out bestseller is a sale lost to a competitor — with no forecast and no early warning.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6309360" y="2468880"/>
            <a:ext cx="640080" cy="640080"/>
          </a:xfrm>
          <a:prstGeom prst="ellipse">
            <a:avLst/>
          </a:prstGeom>
          <a:solidFill>
            <a:srgbClr val="2F6FE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2" name="Image 1" descr="/home/claude/pptx_project/icons/overst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570" y="255209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441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Overstock Locks Up Cash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132320" y="28620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inventory ties up working capital that could otherwise fund growth.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4340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" y="4663440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7" name="Image 2" descr="/home/claude/pptx_project/icons/manual-err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" y="4746650"/>
            <a:ext cx="473659" cy="47365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636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Spreadsheets Don't Scale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91640" y="505663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reorder math breaks down fast past a handful of SKUs and suppliers.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989320" y="434340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/>
        </p:spPr>
      </p:sp>
      <p:sp>
        <p:nvSpPr>
          <p:cNvPr id="21" name="Shape 16"/>
          <p:cNvSpPr/>
          <p:nvPr/>
        </p:nvSpPr>
        <p:spPr>
          <a:xfrm>
            <a:off x="6309360" y="4663440"/>
            <a:ext cx="640080" cy="640080"/>
          </a:xfrm>
          <a:prstGeom prst="ellipse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22" name="Image 3" descr="/home/claude/pptx_project/icons/forec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570" y="4746650"/>
            <a:ext cx="473659" cy="47365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4636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 Into “Why”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132320" y="505663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see a reorder number, but never the reasoning that produced it.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Sales Data To A Confident Decision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StockPilot AI is an inventory co-pilot: it forecasts demand, flags risk before it happens, and tells you exactly what to order — and why.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65580" y="2788920"/>
            <a:ext cx="960120" cy="960120"/>
          </a:xfrm>
          <a:prstGeom prst="ellipse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6" name="Image 0" descr="/home/claude/pptx_project/icons/file-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395" y="2913736"/>
            <a:ext cx="710489" cy="7104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9528" y="391363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Sales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49528" y="4370832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CSV or generate a live demo store</a:t>
            </a:r>
            <a:endParaRPr lang="en-US" sz="1000" dirty="0"/>
          </a:p>
        </p:txBody>
      </p:sp>
      <p:pic>
        <p:nvPicPr>
          <p:cNvPr id="9" name="Image 1" descr="/home/claude/pptx_project/icons/arrow-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736" y="314096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40684" y="2788920"/>
            <a:ext cx="960120" cy="960120"/>
          </a:xfrm>
          <a:prstGeom prst="ellipse">
            <a:avLst/>
          </a:prstGeom>
          <a:solidFill>
            <a:srgbClr val="2F6FE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1" name="Image 2" descr="/home/claude/pptx_project/icons/foreca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499" y="2913736"/>
            <a:ext cx="710489" cy="7104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24632" y="391363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Demand Forecast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3224632" y="4370832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models, auto-selected per product</a:t>
            </a:r>
            <a:endParaRPr lang="en-US" sz="1000" dirty="0"/>
          </a:p>
        </p:txBody>
      </p:sp>
      <p:pic>
        <p:nvPicPr>
          <p:cNvPr id="14" name="Image 3" descr="/home/claude/pptx_project/icons/arrow-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840" y="3140964"/>
            <a:ext cx="256032" cy="25603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615788" y="2788920"/>
            <a:ext cx="960120" cy="960120"/>
          </a:xfrm>
          <a:prstGeom prst="ellipse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6" name="Image 4" descr="/home/claude/pptx_project/icons/alert-critic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603" y="2913736"/>
            <a:ext cx="710489" cy="71048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99736" y="391363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Detection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5199736" y="4370832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&amp; overstock, calculated daily</a:t>
            </a:r>
            <a:endParaRPr lang="en-US" sz="1000" dirty="0"/>
          </a:p>
        </p:txBody>
      </p:sp>
      <p:pic>
        <p:nvPicPr>
          <p:cNvPr id="19" name="Image 5" descr="/home/claude/pptx_project/icons/arrow-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944" y="3140964"/>
            <a:ext cx="256032" cy="25603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590892" y="2788920"/>
            <a:ext cx="960120" cy="960120"/>
          </a:xfrm>
          <a:prstGeom prst="ellipse">
            <a:avLst/>
          </a:prstGeom>
          <a:solidFill>
            <a:srgbClr val="2F6FE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21" name="Image 6" descr="/home/claude/pptx_project/icons/recomme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707" y="2913736"/>
            <a:ext cx="710489" cy="710489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174840" y="391363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Reorder Recommendation</a:t>
            </a:r>
            <a:endParaRPr lang="en-US" sz="1250" dirty="0"/>
          </a:p>
        </p:txBody>
      </p:sp>
      <p:sp>
        <p:nvSpPr>
          <p:cNvPr id="23" name="Text 14"/>
          <p:cNvSpPr/>
          <p:nvPr/>
        </p:nvSpPr>
        <p:spPr>
          <a:xfrm>
            <a:off x="7174840" y="4370832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quantity, plainly explained</a:t>
            </a:r>
            <a:endParaRPr lang="en-US" sz="1000" dirty="0"/>
          </a:p>
        </p:txBody>
      </p:sp>
      <p:pic>
        <p:nvPicPr>
          <p:cNvPr id="24" name="Image 7" descr="/home/claude/pptx_project/icons/arrow-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9048" y="3140964"/>
            <a:ext cx="256032" cy="256032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65996" y="2788920"/>
            <a:ext cx="960120" cy="960120"/>
          </a:xfrm>
          <a:prstGeom prst="ellipse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26" name="Image 8" descr="/home/claude/pptx_project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0811" y="2913736"/>
            <a:ext cx="710489" cy="710489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9149944" y="391363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Action</a:t>
            </a:r>
            <a:endParaRPr lang="en-US" sz="1250" dirty="0"/>
          </a:p>
        </p:txBody>
      </p:sp>
      <p:sp>
        <p:nvSpPr>
          <p:cNvPr id="28" name="Text 17"/>
          <p:cNvSpPr/>
          <p:nvPr/>
        </p:nvSpPr>
        <p:spPr>
          <a:xfrm>
            <a:off x="9149944" y="4370832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 with confidence</a:t>
            </a:r>
            <a:endParaRPr lang="en-US" sz="1000" dirty="0"/>
          </a:p>
        </p:txBody>
      </p:sp>
      <p:sp>
        <p:nvSpPr>
          <p:cNvPr id="29" name="Shape 18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3F6FB"/>
          </a:solidFill>
          <a:ln/>
        </p:spPr>
      </p:sp>
      <p:sp>
        <p:nvSpPr>
          <p:cNvPr id="30" name="Text 19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screen comes from a real backend calculation — nothing is hardcoded or guessed on the frontend.</a:t>
            </a:r>
            <a:endParaRPr lang="en-US" sz="1250" dirty="0"/>
          </a:p>
        </p:txBody>
      </p:sp>
      <p:sp>
        <p:nvSpPr>
          <p:cNvPr id="31" name="Text 2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An Owner Needs, In One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4584" y="1691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574140" y="1947672"/>
            <a:ext cx="566928" cy="566928"/>
          </a:xfrm>
          <a:prstGeom prst="ellipse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6" name="Image 0" descr="/home/claude/pptx_project/icon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7840" y="2021373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4312" y="2679192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9176" y="299008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glance at stock health, risk, and next actions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0080" y="1691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4399636" y="1947672"/>
            <a:ext cx="566928" cy="566928"/>
          </a:xfrm>
          <a:prstGeom prst="ellipse">
            <a:avLst/>
          </a:prstGeom>
          <a:solidFill>
            <a:srgbClr val="2F6FE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1" name="Image 1" descr="/home/claude/pptx_project/icons/inven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336" y="2021373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9808" y="2679192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44672" y="299008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CRUD with live stock status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05576" y="1691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225132" y="1947672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6" name="Image 2" descr="/home/claude/pptx_project/icons/forecastp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832" y="2021373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15304" y="2679192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70168" y="299008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 / 30-day forecasts with confidence scores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31072" y="1691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50628" y="1947672"/>
            <a:ext cx="566928" cy="566928"/>
          </a:xfrm>
          <a:prstGeom prst="ellipse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21" name="Image 3" descr="/home/claude/pptx_project/icons/aler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328" y="2021373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0800" y="2679192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Alerts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95664" y="299008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Stockout, overstock &amp; demand-spike detection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54584" y="3913632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6FB"/>
          </a:solidFill>
          <a:ln/>
        </p:spPr>
      </p:sp>
      <p:sp>
        <p:nvSpPr>
          <p:cNvPr id="25" name="Shape 19"/>
          <p:cNvSpPr/>
          <p:nvPr/>
        </p:nvSpPr>
        <p:spPr>
          <a:xfrm>
            <a:off x="1574140" y="4169664"/>
            <a:ext cx="566928" cy="566928"/>
          </a:xfrm>
          <a:prstGeom prst="ellipse">
            <a:avLst/>
          </a:prstGeom>
          <a:solidFill>
            <a:srgbClr val="2F6FE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26" name="Image 4" descr="/home/claude/pptx_project/icons/recomme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7840" y="4243365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64312" y="4901184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19176" y="52120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reorder quantities, explained in plain English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80080" y="3913632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6FB"/>
          </a:solidFill>
          <a:ln/>
        </p:spPr>
      </p:sp>
      <p:sp>
        <p:nvSpPr>
          <p:cNvPr id="30" name="Shape 23"/>
          <p:cNvSpPr/>
          <p:nvPr/>
        </p:nvSpPr>
        <p:spPr>
          <a:xfrm>
            <a:off x="4399636" y="4169664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31" name="Image 5" descr="/home/claude/pptx_project/icons/scenari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3336" y="4243365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89808" y="4901184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 Simulator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544672" y="52120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demand spikes and supplier delays instantly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205576" y="3913632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6FB"/>
          </a:solidFill>
          <a:ln/>
        </p:spPr>
      </p:sp>
      <p:sp>
        <p:nvSpPr>
          <p:cNvPr id="35" name="Shape 27"/>
          <p:cNvSpPr/>
          <p:nvPr/>
        </p:nvSpPr>
        <p:spPr>
          <a:xfrm>
            <a:off x="7225132" y="4169664"/>
            <a:ext cx="566928" cy="566928"/>
          </a:xfrm>
          <a:prstGeom prst="ellipse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36" name="Image 6" descr="/home/claude/pptx_project/icons/uploa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8832" y="4243365"/>
            <a:ext cx="419527" cy="41952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15304" y="4901184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&amp; Demo Data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370168" y="52120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real sales or generate a live demo store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9031072" y="3913632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3F6FB"/>
          </a:solidFill>
          <a:ln/>
        </p:spPr>
      </p:sp>
      <p:sp>
        <p:nvSpPr>
          <p:cNvPr id="40" name="Shape 31"/>
          <p:cNvSpPr/>
          <p:nvPr/>
        </p:nvSpPr>
        <p:spPr>
          <a:xfrm>
            <a:off x="10050628" y="4169664"/>
            <a:ext cx="566928" cy="566928"/>
          </a:xfrm>
          <a:prstGeom prst="ellipse">
            <a:avLst/>
          </a:prstGeom>
          <a:solidFill>
            <a:srgbClr val="2F6FE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41" name="Image 7" descr="/home/claude/pptx_project/icons/gue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4328" y="4243365"/>
            <a:ext cx="419527" cy="41952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40800" y="4901184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Mode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195664" y="52120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try the full product in one click — no signup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Models. Auto-Selected Per Product.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fits every SKU. StockPilot AI trains all three candidates and picks the one that actually validates best on that product's own history.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308" y="214884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6628" y="242316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7" name="Image 0" descr="/home/claude/pptx_project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328" y="2496861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06628" y="31363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Average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06628" y="353872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cheap, reliable baseline — and the fallback when history is thin.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06628" y="4297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new / low-data products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81348" y="214884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55668" y="242316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3" name="Image 1" descr="/home/claude/pptx_project/icons/foreca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368" y="2496861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55668" y="31363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Exponential Smoothing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55668" y="353872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trend and weekly seasonality (statsmodels Holt-Winters).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655668" y="4297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steady, seasonal demand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30388" y="214884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04708" y="242316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9" name="Image 2" descr="/home/claude/pptx_project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408" y="2496861"/>
            <a:ext cx="419527" cy="41952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04708" y="31363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04708" y="353872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on lag, rolling-mean &amp; calendar features.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404708" y="4297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rich history, complex patterns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48640" y="51663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is validation-driven: train → hold out recent days → score MAE / RMSE / MAPE → pick the winner → forecast.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03120"/>
            <a:ext cx="5943600" cy="5943600"/>
          </a:xfrm>
          <a:prstGeom prst="ellipse">
            <a:avLst/>
          </a:prstGeom>
          <a:solidFill>
            <a:srgbClr val="0A1330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423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Modern, Production-Grade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074920" cy="4480560"/>
          </a:xfrm>
          <a:prstGeom prst="roundRect">
            <a:avLst>
              <a:gd name="adj" fmla="val 2041"/>
            </a:avLst>
          </a:prstGeom>
          <a:solidFill>
            <a:srgbClr val="16224A"/>
          </a:solidFill>
          <a:ln w="12700">
            <a:solidFill>
              <a:srgbClr val="2A3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8" name="Image 0" descr="/home/claude/pptx_project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2083003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14400" y="2926080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27889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14400" y="3456432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3192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14400" y="3986784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38496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14400" y="4517136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43799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14400" y="5047488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6"/>
          <p:cNvSpPr/>
          <p:nvPr/>
        </p:nvSpPr>
        <p:spPr>
          <a:xfrm>
            <a:off x="1143000" y="4910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914400" y="5577840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8"/>
          <p:cNvSpPr/>
          <p:nvPr/>
        </p:nvSpPr>
        <p:spPr>
          <a:xfrm>
            <a:off x="1143000" y="54406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(JS)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89320" y="1691640"/>
            <a:ext cx="5074920" cy="4480560"/>
          </a:xfrm>
          <a:prstGeom prst="roundRect">
            <a:avLst>
              <a:gd name="adj" fmla="val 2041"/>
            </a:avLst>
          </a:prstGeom>
          <a:solidFill>
            <a:srgbClr val="16224A"/>
          </a:solidFill>
          <a:ln w="12700">
            <a:solidFill>
              <a:srgbClr val="2A3B6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201168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24" name="Image 1" descr="/home/claude/pptx_project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683" y="2083003"/>
            <a:ext cx="405994" cy="40599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9516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355080" y="2926080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Text 23"/>
          <p:cNvSpPr/>
          <p:nvPr/>
        </p:nvSpPr>
        <p:spPr>
          <a:xfrm>
            <a:off x="6583680" y="27889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6355080" y="3456432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9" name="Text 25"/>
          <p:cNvSpPr/>
          <p:nvPr/>
        </p:nvSpPr>
        <p:spPr>
          <a:xfrm>
            <a:off x="6583680" y="33192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6355080" y="3986784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7"/>
          <p:cNvSpPr/>
          <p:nvPr/>
        </p:nvSpPr>
        <p:spPr>
          <a:xfrm>
            <a:off x="6583680" y="38496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6355080" y="4517136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3" name="Text 29"/>
          <p:cNvSpPr/>
          <p:nvPr/>
        </p:nvSpPr>
        <p:spPr>
          <a:xfrm>
            <a:off x="6583680" y="43799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scikit-learn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6355080" y="5047488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5" name="Text 31"/>
          <p:cNvSpPr/>
          <p:nvPr/>
        </p:nvSpPr>
        <p:spPr>
          <a:xfrm>
            <a:off x="6583680" y="4910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endParaRPr lang="en-US" sz="1350" dirty="0"/>
          </a:p>
        </p:txBody>
      </p:sp>
      <p:sp>
        <p:nvSpPr>
          <p:cNvPr id="36" name="Shape 32"/>
          <p:cNvSpPr/>
          <p:nvPr/>
        </p:nvSpPr>
        <p:spPr>
          <a:xfrm>
            <a:off x="6355080" y="5577840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7" name="Text 33"/>
          <p:cNvSpPr/>
          <p:nvPr/>
        </p:nvSpPr>
        <p:spPr>
          <a:xfrm>
            <a:off x="6583680" y="54406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50" dirty="0"/>
          </a:p>
        </p:txBody>
      </p:sp>
      <p:sp>
        <p:nvSpPr>
          <p:cNvPr id="38" name="Text 34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Clean Request Path — Verified Every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6608" y="21945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601572" y="2468880"/>
            <a:ext cx="621792" cy="621792"/>
          </a:xfrm>
          <a:prstGeom prst="ellipse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6" name="Image 0" descr="/home/claude/pptx_project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05" y="2549713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3768" y="32461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(Axios Client)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1200" y="3730752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the Supabase JWT to every request</a:t>
            </a:r>
            <a:endParaRPr lang="en-US" sz="1000" dirty="0"/>
          </a:p>
        </p:txBody>
      </p:sp>
      <p:pic>
        <p:nvPicPr>
          <p:cNvPr id="9" name="Image 1" descr="/home/claude/pptx_project/icons/arrow-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912" y="320954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35528" y="21945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390492" y="2468880"/>
            <a:ext cx="621792" cy="621792"/>
          </a:xfrm>
          <a:prstGeom prst="ellipse">
            <a:avLst/>
          </a:prstGeom>
          <a:solidFill>
            <a:srgbClr val="2F6FE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2" name="Image 2" descr="/home/claude/pptx_project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325" y="2549713"/>
            <a:ext cx="460126" cy="4601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72688" y="32461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700120" y="3730752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JWT signature, audience &amp; expiry</a:t>
            </a:r>
            <a:endParaRPr lang="en-US" sz="1000" dirty="0"/>
          </a:p>
        </p:txBody>
      </p:sp>
      <p:pic>
        <p:nvPicPr>
          <p:cNvPr id="15" name="Image 3" descr="/home/claude/pptx_project/icons/arrow-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832" y="3209544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24448" y="21945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/>
        </p:spPr>
      </p:sp>
      <p:sp>
        <p:nvSpPr>
          <p:cNvPr id="17" name="Shape 11"/>
          <p:cNvSpPr/>
          <p:nvPr/>
        </p:nvSpPr>
        <p:spPr>
          <a:xfrm>
            <a:off x="7179412" y="2468880"/>
            <a:ext cx="621792" cy="62179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8" name="Image 4" descr="/home/claude/pptx_project/icons/cp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245" y="2549713"/>
            <a:ext cx="460126" cy="46012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61608" y="32461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/ ML Engine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89040" y="3730752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risk math, recommendations</a:t>
            </a:r>
            <a:endParaRPr lang="en-US" sz="1000" dirty="0"/>
          </a:p>
        </p:txBody>
      </p:sp>
      <p:pic>
        <p:nvPicPr>
          <p:cNvPr id="21" name="Image 5" descr="/home/claude/pptx_project/icons/arrow-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6752" y="3209544"/>
            <a:ext cx="256032" cy="25603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113368" y="21945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/>
        </p:spPr>
      </p:sp>
      <p:sp>
        <p:nvSpPr>
          <p:cNvPr id="23" name="Shape 15"/>
          <p:cNvSpPr/>
          <p:nvPr/>
        </p:nvSpPr>
        <p:spPr>
          <a:xfrm>
            <a:off x="9968332" y="2468880"/>
            <a:ext cx="621792" cy="621792"/>
          </a:xfrm>
          <a:prstGeom prst="ellipse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24" name="Image 6" descr="/home/claude/pptx_project/icons/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9165" y="2549713"/>
            <a:ext cx="460126" cy="46012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250528" y="32461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9277960" y="3730752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Row Level Security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548640" y="507492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F1B3D"/>
          </a:solidFill>
          <a:ln/>
        </p:spPr>
      </p:sp>
      <p:sp>
        <p:nvSpPr>
          <p:cNvPr id="28" name="Text 19"/>
          <p:cNvSpPr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never trusts the frontend for identity — every query is scoped to the user_id extracted from a freshly-verified token.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03120"/>
            <a:ext cx="5943600" cy="5943600"/>
          </a:xfrm>
          <a:prstGeom prst="ellipse">
            <a:avLst/>
          </a:prstGeom>
          <a:solidFill>
            <a:srgbClr val="0A1330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423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By Default, Isolated By Design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7" name="Image 0" descr="/home/claude/pptx_project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1856781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73736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Signature Verification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98448" y="2130552"/>
            <a:ext cx="4416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HS256 or ES256/RS256 — matches whatever the Supabase project actually issues.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1" name="Image 1" descr="/home/claude/pptx_project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901" y="185678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22008" y="173736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Level Security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922008" y="2130552"/>
            <a:ext cx="4416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policies enforce auth.uid() = user_id on every table, independent of the backend.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5" name="Image 2" descr="/home/claude/pptx_project/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3822741"/>
            <a:ext cx="419527" cy="4195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98448" y="370332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User-Scoped Queries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298448" y="4096512"/>
            <a:ext cx="4416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depth: every repository call filters by the verified user_id too.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72200" y="374904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9" name="Image 3" descr="/home/claude/pptx_project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901" y="3822741"/>
            <a:ext cx="419527" cy="41952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22008" y="370332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 Guest Data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922008" y="4096512"/>
            <a:ext cx="4416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Mode only ever touches its own demo account — never a real business's data.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DEMO 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 As Guest → Instant Live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2308" y="169164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3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0908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84068" y="1892808"/>
            <a:ext cx="502920" cy="502920"/>
          </a:xfrm>
          <a:prstGeom prst="ellipse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7" name="Image 0" descr="/home/claude/pptx_project/icons/gu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9447" y="1958188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0908" y="2468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“Continue as Guest”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0908" y="29718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signup, no email confirmation — one tap on the login screen.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1348" y="169164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3F6FB"/>
          </a:solidFill>
          <a:ln/>
        </p:spPr>
      </p:sp>
      <p:sp>
        <p:nvSpPr>
          <p:cNvPr id="11" name="Text 8"/>
          <p:cNvSpPr/>
          <p:nvPr/>
        </p:nvSpPr>
        <p:spPr>
          <a:xfrm>
            <a:off x="4609948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033108" y="1892808"/>
            <a:ext cx="502920" cy="502920"/>
          </a:xfrm>
          <a:prstGeom prst="ellipse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3" name="Image 1" descr="/home/claude/pptx_project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487" y="1958188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9948" y="2468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Seeds Real Data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09948" y="29718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/demo/seed engine generates realistic products &amp; 90+ days of sales.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0388" y="169164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3F6FB"/>
          </a:solidFill>
          <a:ln/>
        </p:spPr>
      </p:sp>
      <p:sp>
        <p:nvSpPr>
          <p:cNvPr id="17" name="Text 13"/>
          <p:cNvSpPr/>
          <p:nvPr/>
        </p:nvSpPr>
        <p:spPr>
          <a:xfrm>
            <a:off x="8358988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10782148" y="1892808"/>
            <a:ext cx="502920" cy="502920"/>
          </a:xfrm>
          <a:prstGeom prst="ellipse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9" name="Image 2" descr="/home/claude/pptx_project/icons/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527" y="1958188"/>
            <a:ext cx="372161" cy="3721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58988" y="2468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Full Product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358988" y="29718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forecasts, alerts, recommendations — everything, instantly populated.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5262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4400" y="4526280"/>
            <a:ext cx="10378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“Guest Mode gives an instant live demo, while every registered business gets a completely private, clean workspace.”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Dashboard That Tells You What To Do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43032" cy="4709160"/>
          </a:xfrm>
          <a:prstGeom prst="roundRect">
            <a:avLst>
              <a:gd name="adj" fmla="val 15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63500" dir="5400000">
              <a:srgbClr val="0F1B3D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0200"/>
            <a:ext cx="10543032" cy="365760"/>
          </a:xfrm>
          <a:prstGeom prst="roundRect">
            <a:avLst>
              <a:gd name="adj" fmla="val 20000"/>
            </a:avLst>
          </a:prstGeom>
          <a:solidFill>
            <a:srgbClr val="0F1B3D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728216"/>
            <a:ext cx="109728" cy="10972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72821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44752" y="1728216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2148840"/>
            <a:ext cx="23317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148840"/>
            <a:ext cx="54864" cy="10058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2258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25880" y="2532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₹12.8L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657600" y="2148840"/>
            <a:ext cx="23317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2148840"/>
            <a:ext cx="54864" cy="100584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258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0" y="2532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1,284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72200" y="2148840"/>
            <a:ext cx="23317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148840"/>
            <a:ext cx="54864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258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RISK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55080" y="2532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686800" y="2148840"/>
            <a:ext cx="23317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2148840"/>
            <a:ext cx="54864" cy="10058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0" y="2258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69680" y="2532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4300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43000" y="3794760"/>
            <a:ext cx="9902952" cy="548640"/>
          </a:xfrm>
          <a:prstGeom prst="roundRect">
            <a:avLst>
              <a:gd name="adj" fmla="val 8333"/>
            </a:avLst>
          </a:prstGeom>
          <a:solidFill>
            <a:srgbClr val="F3F6FB"/>
          </a:solidFill>
          <a:ln/>
        </p:spPr>
      </p:sp>
      <p:sp>
        <p:nvSpPr>
          <p:cNvPr id="27" name="Shape 25"/>
          <p:cNvSpPr/>
          <p:nvPr/>
        </p:nvSpPr>
        <p:spPr>
          <a:xfrm>
            <a:off x="1307592" y="3995928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1600200" y="3840480"/>
            <a:ext cx="9262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1L — stockout predicted in 2 days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600200" y="4087368"/>
            <a:ext cx="9262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order: 65 units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43000" y="4453128"/>
            <a:ext cx="9902952" cy="548640"/>
          </a:xfrm>
          <a:prstGeom prst="roundRect">
            <a:avLst>
              <a:gd name="adj" fmla="val 8333"/>
            </a:avLst>
          </a:prstGeom>
          <a:solidFill>
            <a:srgbClr val="F3F6FB"/>
          </a:solidFill>
          <a:ln/>
        </p:spPr>
      </p:sp>
      <p:sp>
        <p:nvSpPr>
          <p:cNvPr id="31" name="Shape 29"/>
          <p:cNvSpPr/>
          <p:nvPr/>
        </p:nvSpPr>
        <p:spPr>
          <a:xfrm>
            <a:off x="1307592" y="4654296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1600200" y="4498848"/>
            <a:ext cx="9262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Speaker — approx. 280 units overstocked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600200" y="4745736"/>
            <a:ext cx="9262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promotional pricing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83880" y="3429000"/>
            <a:ext cx="2286000" cy="1965960"/>
          </a:xfrm>
          <a:prstGeom prst="roundRect">
            <a:avLst>
              <a:gd name="adj" fmla="val 2326"/>
            </a:avLst>
          </a:prstGeom>
          <a:solidFill>
            <a:srgbClr val="F3F6FB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3502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FORECAST</a:t>
            </a:r>
            <a:endParaRPr lang="en-US" sz="8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8275320" y="3794760"/>
          <a:ext cx="21031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Text 34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Hold Up Under Real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4584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7464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7464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dashboard load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7464" y="3703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redundant per-product model re-fitting and N+1 database queries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0080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2960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62960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backend tests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62960" y="3703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forecasting, inventory math, auth, and RLS-style isolation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05576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8456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388456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models compared per SKU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88456" y="3703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Validation-driven selection — never one-size-fits-all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31072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4B8A6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13952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213952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Cross-account data leaks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13952" y="3703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+ verified user_id filtering + query-cache isolation on every auth transition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3200400"/>
            <a:ext cx="100584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86688" y="2743200"/>
            <a:ext cx="914400" cy="914400"/>
          </a:xfrm>
          <a:prstGeom prst="ellipse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6" name="Image 0" descr="/home/claude/pptx_project/icons/file-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560" y="286207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448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Order Generation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9448" y="4434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recommendation into a sendable PO in one click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21328" y="2743200"/>
            <a:ext cx="914400" cy="914400"/>
          </a:xfrm>
          <a:prstGeom prst="ellipse">
            <a:avLst/>
          </a:prstGeom>
          <a:solidFill>
            <a:srgbClr val="2F6FE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0" name="Image 1" descr="/home/claude/pptx_project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200" y="2862072"/>
            <a:ext cx="676656" cy="6766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44088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Multi-Channel Sales Sync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44088" y="4434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sales directly from POS &amp; e-commerce platforms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055968" y="2743200"/>
            <a:ext cx="914400" cy="91440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4" name="Image 2" descr="/home/claude/pptx_project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840" y="2862072"/>
            <a:ext cx="676656" cy="6766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78728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/ Festival Modeling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278728" y="4434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Diwali, Eid, and other event-driven demand uplift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890608" y="2743200"/>
            <a:ext cx="914400" cy="914400"/>
          </a:xfrm>
          <a:prstGeom prst="ellipse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38100" dir="5400000">
              <a:srgbClr val="0F1B3D">
                <a:alpha val="18000"/>
              </a:srgbClr>
            </a:outerShdw>
          </a:effectLst>
        </p:spPr>
      </p:sp>
      <p:pic>
        <p:nvPicPr>
          <p:cNvPr id="18" name="Image 3" descr="/home/claude/pptx_project/icons/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9480" y="2862072"/>
            <a:ext cx="676656" cy="6766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13368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Mobile App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9113368" y="4434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alerts and reorder approval on the go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03120"/>
            <a:ext cx="5943600" cy="5943600"/>
          </a:xfrm>
          <a:prstGeom prst="ellipse">
            <a:avLst/>
          </a:prstGeom>
          <a:solidFill>
            <a:srgbClr val="0A1330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42352"/>
          </a:solidFill>
          <a:ln/>
        </p:spPr>
      </p:sp>
      <p:sp>
        <p:nvSpPr>
          <p:cNvPr id="4" name="Shape 2"/>
          <p:cNvSpPr/>
          <p:nvPr/>
        </p:nvSpPr>
        <p:spPr>
          <a:xfrm>
            <a:off x="4956048" y="82296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ptx_projec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982980"/>
            <a:ext cx="1920240" cy="10195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4305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524305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demand. Prevent stockouts. Protect cash.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267505" y="4297680"/>
            <a:ext cx="3657600" cy="594360"/>
          </a:xfrm>
          <a:prstGeom prst="roundRect">
            <a:avLst>
              <a:gd name="adj" fmla="val 49231"/>
            </a:avLst>
          </a:prstGeom>
          <a:solidFill>
            <a:srgbClr val="16224A"/>
          </a:solidFill>
          <a:ln w="12700">
            <a:solidFill>
              <a:srgbClr val="2A3B6E"/>
            </a:solidFill>
            <a:prstDash val="solid"/>
          </a:ln>
        </p:spPr>
      </p:sp>
      <p:pic>
        <p:nvPicPr>
          <p:cNvPr id="9" name="Image 1" descr="/home/claude/pptx_project/icons/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445312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37760" y="4297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524305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RICR Bhopal Hackathon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2026-08-14T13:21:45Z</dcterms:created>
  <dcterms:modified xsi:type="dcterms:W3CDTF">2026-08-14T13:21:45Z</dcterms:modified>
</cp:coreProperties>
</file>